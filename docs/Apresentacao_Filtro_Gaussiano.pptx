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33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8686800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502920"/>
            <a:ext cx="2926080" cy="384048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DEC107 — Processamento Paralelo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8961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Projeto 1 — Filtro Gaussiano</a:t>
            </a:r>
          </a:p>
          <a:p>
            <a:pPr algn="l">
              <a:spcBef>
                <a:spcPts val="0"/>
              </a:spcBef>
            </a:pPr>
            <a:r>
              <a:rPr sz="4400" b="1" i="0">
                <a:solidFill>
                  <a:srgbClr val="02C39A"/>
                </a:solidFill>
              </a:rPr>
              <a:t>Iterativo com OpenMP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37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A0C4DC"/>
                </a:solidFill>
              </a:rPr>
              <a:t>Implementação Serial e Paralela em Memória Compartilhada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931920"/>
            <a:ext cx="8686800" cy="54864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16052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Gilbert Carmo  &amp;  Henio Pedro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0B0CC"/>
                </a:solidFill>
              </a:rPr>
              <a:t>Abril de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0" y="1097280"/>
            <a:ext cx="1673352" cy="4663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645920"/>
            <a:ext cx="167335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070A0"/>
                </a:solidFill>
              </a:rPr>
              <a:t>S E R I A L
P A R A L E L O
O P E N M 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65A82"/>
                </a:solidFill>
              </a:rPr>
              <a:t>O que é o Filtro Gaussiano?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7293"/>
                </a:solidFill>
              </a:rPr>
              <a:t>Conceito e aplicação em processamento de imagens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11430000" cy="36576"/>
          </a:xfrm>
          <a:prstGeom prst="rect">
            <a:avLst/>
          </a:prstGeom>
          <a:solidFill>
            <a:srgbClr val="F0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5577840" cy="5029200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5A82"/>
                </a:solidFill>
              </a:rPr>
              <a:t>Como funciona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2121408"/>
            <a:ext cx="164592" cy="164592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4937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F1F2D"/>
                </a:solidFill>
              </a:rPr>
              <a:t>Suaviza a imagem reduzindo ruído e detalhes finos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2743200"/>
            <a:ext cx="164592" cy="164592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79192"/>
            <a:ext cx="4937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F1F2D"/>
                </a:solidFill>
              </a:rPr>
              <a:t>Cada pixel de saída é uma média ponderada dos seus vizinhos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364992"/>
            <a:ext cx="164592" cy="164592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300984"/>
            <a:ext cx="4937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F1F2D"/>
                </a:solidFill>
              </a:rPr>
              <a:t>Pixels mais próximos ao centro recebem maior peso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3986784"/>
            <a:ext cx="164592" cy="164592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922776"/>
            <a:ext cx="4937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F1F2D"/>
                </a:solidFill>
              </a:rPr>
              <a:t>Aplicado de forma iterativa: cada rodada aumenta o desfoque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4608576"/>
            <a:ext cx="164592" cy="164592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544568"/>
            <a:ext cx="4937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F1F2D"/>
                </a:solidFill>
              </a:rPr>
              <a:t>Os pesos seguem uma distribuição gaussiana (curva em sino)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371600"/>
            <a:ext cx="5577840" cy="5029200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5087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5A82"/>
                </a:solidFill>
              </a:rPr>
              <a:t>Kernel Gaussiano 3×3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2103120"/>
            <a:ext cx="859536" cy="722376"/>
          </a:xfrm>
          <a:prstGeom prst="rect">
            <a:avLst/>
          </a:prstGeom>
          <a:solidFill>
            <a:srgbClr val="ADD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79" y="2103120"/>
            <a:ext cx="859536" cy="722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79" y="2103120"/>
            <a:ext cx="859536" cy="7223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9" y="2103120"/>
            <a:ext cx="859536" cy="722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79" y="2103120"/>
            <a:ext cx="859536" cy="722376"/>
          </a:xfrm>
          <a:prstGeom prst="rect">
            <a:avLst/>
          </a:prstGeom>
          <a:solidFill>
            <a:srgbClr val="ADD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79" y="2103120"/>
            <a:ext cx="859536" cy="722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79" y="2880360"/>
            <a:ext cx="859536" cy="7223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79" y="2880360"/>
            <a:ext cx="859536" cy="722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79" y="2880360"/>
            <a:ext cx="859536" cy="722376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79" y="2880360"/>
            <a:ext cx="859536" cy="722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79" y="2880360"/>
            <a:ext cx="859536" cy="7223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79" y="2880360"/>
            <a:ext cx="859536" cy="722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98079" y="3657600"/>
            <a:ext cx="859536" cy="722376"/>
          </a:xfrm>
          <a:prstGeom prst="rect">
            <a:avLst/>
          </a:prstGeom>
          <a:solidFill>
            <a:srgbClr val="ADD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79" y="3657600"/>
            <a:ext cx="859536" cy="722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79" y="3657600"/>
            <a:ext cx="859536" cy="7223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79" y="3657600"/>
            <a:ext cx="859536" cy="722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26879" y="3657600"/>
            <a:ext cx="859536" cy="722376"/>
          </a:xfrm>
          <a:prstGeom prst="rect">
            <a:avLst/>
          </a:prstGeom>
          <a:solidFill>
            <a:srgbClr val="ADD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79" y="3657600"/>
            <a:ext cx="859536" cy="722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47548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4748B"/>
                </a:solidFill>
              </a:rPr>
              <a:t>Soma dos pesos = 16  →  divide por 16 para normalizar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0" y="5257800"/>
            <a:ext cx="3840480" cy="41148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Normalizado: soma de todos os pesos =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65A82"/>
                </a:solidFill>
              </a:rPr>
              <a:t>Implementação Serial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7293"/>
                </a:solidFill>
              </a:rPr>
              <a:t>Lógica sequencial do algoritmo em C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11430000" cy="36576"/>
          </a:xfrm>
          <a:prstGeom prst="rect">
            <a:avLst/>
          </a:prstGeom>
          <a:solidFill>
            <a:srgbClr val="F0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6400800" cy="5120640"/>
          </a:xfrm>
          <a:prstGeom prst="rect">
            <a:avLst/>
          </a:prstGeom>
          <a:solidFill>
            <a:srgbClr val="0F1F2D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81328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// Aplica kernel 3x3 em um pixel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2C39A"/>
                </a:solidFill>
              </a:rPr>
              <a:t>float aplicar3x3(float** entrada,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4832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2C39A"/>
                </a:solidFill>
              </a:rPr>
              <a:t>                 int linha, int col){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86584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float soma = 0.0;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88336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D4FF"/>
                </a:solidFill>
              </a:rPr>
              <a:t>  for(i=-1; i&lt;=1; i++)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990088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D4FF"/>
                </a:solidFill>
              </a:rPr>
              <a:t>    for(j=-1; j&lt;=1; j++)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91840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    soma += entrada[linha+i]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93592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           [col+j]*kernel[i+1][j+1];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95344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  return soma / 16.0;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197096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98848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800600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// Troca de ponteiros ao final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02352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float** temp = entrada;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404104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entrada = saida;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05856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2C39A"/>
                </a:solidFill>
              </a:rPr>
              <a:t>saida   = temp;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1371600"/>
            <a:ext cx="91440" cy="13716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86600" y="1371600"/>
            <a:ext cx="4754880" cy="1371600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150876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65A82"/>
                </a:solidFill>
              </a:rPr>
              <a:t>Dois buffers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190195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F2D"/>
                </a:solidFill>
              </a:rPr>
              <a:t>Matrizes 'entrada' e 'saida' separadas evitam sobrescrever dados durante o cálculo.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95160" y="2953512"/>
            <a:ext cx="91440" cy="13716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086600" y="2953512"/>
            <a:ext cx="4754880" cy="1371600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69480" y="309067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65A82"/>
                </a:solidFill>
              </a:rPr>
              <a:t>Troca de ponteiros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3483864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F2D"/>
                </a:solidFill>
              </a:rPr>
              <a:t>Ao final de cada iteração, 'entrada' e 'saida' trocam de papel sem copiar dados — O(1).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95160" y="4535424"/>
            <a:ext cx="91440" cy="13716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86600" y="4535424"/>
            <a:ext cx="4754880" cy="1371600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69480" y="4672584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65A82"/>
                </a:solidFill>
              </a:rPr>
              <a:t>10 iterações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5065776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F2D"/>
                </a:solidFill>
              </a:rPr>
              <a:t>O filtro é aplicado 10 vezes seguidas, aumentando o efeito de suavização a cada rodada.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65A82"/>
                </a:solidFill>
              </a:rPr>
              <a:t>Implementação Paralela com OpenMP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7293"/>
                </a:solidFill>
              </a:rPr>
              <a:t>Paralelismo em memória compartilhada — modelo fork-join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11430000" cy="36576"/>
          </a:xfrm>
          <a:prstGeom prst="rect">
            <a:avLst/>
          </a:prstGeom>
          <a:solidFill>
            <a:srgbClr val="F0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11430000" cy="1554480"/>
          </a:xfrm>
          <a:prstGeom prst="rect">
            <a:avLst/>
          </a:prstGeom>
          <a:solidFill>
            <a:srgbClr val="0F1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481328"/>
            <a:ext cx="1371600" cy="29260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0F1F2D"/>
                </a:solidFill>
              </a:rPr>
              <a:t>PRAGMA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4630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2C39A"/>
                </a:solidFill>
              </a:rPr>
              <a:t>#pragma omp parallel for collapse(2)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74519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for (i = 1; i &lt; tam-1; i++)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945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    for (j = 1; j &lt; tam-1; j++)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146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0D4FF"/>
                </a:solidFill>
              </a:rPr>
              <a:t>        saida[i][j] = aplicar3x3(entrada, i, j);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246120"/>
            <a:ext cx="3657600" cy="2560320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246120"/>
            <a:ext cx="3657600" cy="1097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474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65A82"/>
                </a:solidFill>
              </a:rPr>
              <a:t>collapse(2)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02336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F1F2D"/>
                </a:solidFill>
              </a:rPr>
              <a:t>Funde os dois loops em um único espaço de iterações. Melhora o balanceamento entre threads.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19" y="3246120"/>
            <a:ext cx="3657600" cy="2560320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19" y="3246120"/>
            <a:ext cx="3657600" cy="10972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1999" y="3474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65A82"/>
                </a:solidFill>
              </a:rPr>
              <a:t>Sem corrida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999" y="402336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F1F2D"/>
                </a:solidFill>
              </a:rPr>
              <a:t>Cada thread escreve em pixels diferentes de 'saida'. Leitura de 'entrada' não tem conflito.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66758" y="3246120"/>
            <a:ext cx="3657600" cy="2560320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66758" y="3246120"/>
            <a:ext cx="3657600" cy="10972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38" y="3474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65A82"/>
                </a:solidFill>
              </a:rPr>
              <a:t>omp_get_wtime()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38" y="402336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F1F2D"/>
                </a:solidFill>
              </a:rPr>
              <a:t>Mede tempo real de parede. clock() somaria CPU de todas as threads — resultado errado.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989320"/>
            <a:ext cx="11430000" cy="502920"/>
          </a:xfrm>
          <a:prstGeom prst="rect">
            <a:avLst/>
          </a:prstGeom>
          <a:solidFill>
            <a:srgbClr val="02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035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2C39A"/>
                </a:solidFill>
              </a:rPr>
              <a:t>gcc -O2 -fopenmp etapa1_openmp.c -o etapa1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65A82"/>
                </a:solidFill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7293"/>
                </a:solidFill>
              </a:rPr>
              <a:t>Speedup e Eficiência — Kernel 3×3 e 5×5, 10 iterações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11430000" cy="36576"/>
          </a:xfrm>
          <a:prstGeom prst="rect">
            <a:avLst/>
          </a:prstGeom>
          <a:solidFill>
            <a:srgbClr val="F0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389888"/>
            <a:ext cx="1517904" cy="402336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89888"/>
            <a:ext cx="15179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Tamanho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1389888"/>
            <a:ext cx="786384" cy="402336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389888"/>
            <a:ext cx="78638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Kernel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389888"/>
            <a:ext cx="877824" cy="402336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389888"/>
            <a:ext cx="8778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Threads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1389888"/>
            <a:ext cx="1335024" cy="402336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1389888"/>
            <a:ext cx="13350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T. Serial (s)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1389888"/>
            <a:ext cx="1426464" cy="402336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1389888"/>
            <a:ext cx="14264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T. Paralelo (s)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1389888"/>
            <a:ext cx="969264" cy="402336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389888"/>
            <a:ext cx="9692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Speedup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43800" y="1389888"/>
            <a:ext cx="1060704" cy="402336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1389888"/>
            <a:ext cx="10607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Eficiência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1792224"/>
            <a:ext cx="151790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1792224"/>
            <a:ext cx="15179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512×512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65960" y="1792224"/>
            <a:ext cx="78638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65960" y="1792224"/>
            <a:ext cx="78638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3×3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8920" y="1792224"/>
            <a:ext cx="87782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8920" y="1792224"/>
            <a:ext cx="8778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03320" y="1792224"/>
            <a:ext cx="133502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03320" y="1792224"/>
            <a:ext cx="13350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0.084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1792224"/>
            <a:ext cx="142646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4920" y="1792224"/>
            <a:ext cx="14264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0.045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37960" y="1792224"/>
            <a:ext cx="96926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1792224"/>
            <a:ext cx="9692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1.87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43800" y="1792224"/>
            <a:ext cx="106070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43800" y="1792224"/>
            <a:ext cx="10607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93.3%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2194560"/>
            <a:ext cx="151790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2194560"/>
            <a:ext cx="15179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512×512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65960" y="2194560"/>
            <a:ext cx="78638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5960" y="2194560"/>
            <a:ext cx="78638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3×3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88920" y="2194560"/>
            <a:ext cx="87782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88920" y="2194560"/>
            <a:ext cx="8778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03320" y="2194560"/>
            <a:ext cx="133502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03320" y="2194560"/>
            <a:ext cx="13350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74920" y="2194560"/>
            <a:ext cx="142646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74920" y="2194560"/>
            <a:ext cx="14264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0.025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2194560"/>
            <a:ext cx="96926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2194560"/>
            <a:ext cx="9692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3.38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43800" y="2194560"/>
            <a:ext cx="106070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43800" y="2194560"/>
            <a:ext cx="10607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84.5%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2596896"/>
            <a:ext cx="151790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2596896"/>
            <a:ext cx="15179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512×512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65960" y="2596896"/>
            <a:ext cx="78638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965960" y="2596896"/>
            <a:ext cx="78638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3×3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88920" y="2596896"/>
            <a:ext cx="87782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88920" y="2596896"/>
            <a:ext cx="8778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703320" y="2596896"/>
            <a:ext cx="133502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03320" y="2596896"/>
            <a:ext cx="13350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74920" y="2596896"/>
            <a:ext cx="142646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74920" y="2596896"/>
            <a:ext cx="14264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0.018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37960" y="2596896"/>
            <a:ext cx="96926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37960" y="2596896"/>
            <a:ext cx="9692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4.73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543800" y="2596896"/>
            <a:ext cx="106070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543800" y="2596896"/>
            <a:ext cx="10607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59.1%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2999232"/>
            <a:ext cx="151790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1480" y="2999232"/>
            <a:ext cx="15179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1024×1024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965960" y="2999232"/>
            <a:ext cx="78638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965960" y="2999232"/>
            <a:ext cx="78638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3×3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88920" y="2999232"/>
            <a:ext cx="87782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88920" y="2999232"/>
            <a:ext cx="8778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703320" y="2999232"/>
            <a:ext cx="133502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703320" y="2999232"/>
            <a:ext cx="13350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0.338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74920" y="2999232"/>
            <a:ext cx="142646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74920" y="2999232"/>
            <a:ext cx="14264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0.172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37960" y="2999232"/>
            <a:ext cx="96926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537960" y="2999232"/>
            <a:ext cx="9692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1.97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543800" y="2999232"/>
            <a:ext cx="106070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43800" y="2999232"/>
            <a:ext cx="10607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98.3%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3401568"/>
            <a:ext cx="151790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3401568"/>
            <a:ext cx="15179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1024×1024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965960" y="3401568"/>
            <a:ext cx="78638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965960" y="3401568"/>
            <a:ext cx="78638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3×3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88920" y="3401568"/>
            <a:ext cx="87782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88920" y="3401568"/>
            <a:ext cx="8778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703320" y="3401568"/>
            <a:ext cx="133502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703320" y="3401568"/>
            <a:ext cx="13350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—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74920" y="3401568"/>
            <a:ext cx="142646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074920" y="3401568"/>
            <a:ext cx="14264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0.090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537960" y="3401568"/>
            <a:ext cx="96926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537960" y="3401568"/>
            <a:ext cx="9692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3.77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543800" y="3401568"/>
            <a:ext cx="106070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3401568"/>
            <a:ext cx="10607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94.2%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1480" y="3803904"/>
            <a:ext cx="1517904" cy="402336"/>
          </a:xfrm>
          <a:prstGeom prst="rect">
            <a:avLst/>
          </a:prstGeom>
          <a:solidFill>
            <a:srgbClr val="E0F5EE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11480" y="3803904"/>
            <a:ext cx="15179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1024×1024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965960" y="3803904"/>
            <a:ext cx="786384" cy="402336"/>
          </a:xfrm>
          <a:prstGeom prst="rect">
            <a:avLst/>
          </a:prstGeom>
          <a:solidFill>
            <a:srgbClr val="E0F5EE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965960" y="3803904"/>
            <a:ext cx="78638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3×3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788920" y="3803904"/>
            <a:ext cx="877824" cy="402336"/>
          </a:xfrm>
          <a:prstGeom prst="rect">
            <a:avLst/>
          </a:prstGeom>
          <a:solidFill>
            <a:srgbClr val="E0F5EE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788920" y="3803904"/>
            <a:ext cx="8778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703320" y="3803904"/>
            <a:ext cx="1335024" cy="402336"/>
          </a:xfrm>
          <a:prstGeom prst="rect">
            <a:avLst/>
          </a:prstGeom>
          <a:solidFill>
            <a:srgbClr val="E0F5EE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703320" y="3803904"/>
            <a:ext cx="13350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—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074920" y="3803904"/>
            <a:ext cx="1426464" cy="402336"/>
          </a:xfrm>
          <a:prstGeom prst="rect">
            <a:avLst/>
          </a:prstGeom>
          <a:solidFill>
            <a:srgbClr val="E0F5EE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074920" y="3803904"/>
            <a:ext cx="14264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0.056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537960" y="3803904"/>
            <a:ext cx="969264" cy="402336"/>
          </a:xfrm>
          <a:prstGeom prst="rect">
            <a:avLst/>
          </a:prstGeom>
          <a:solidFill>
            <a:srgbClr val="E0F5EE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537960" y="3803904"/>
            <a:ext cx="9692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0A6A40"/>
                </a:solidFill>
              </a:rPr>
              <a:t>6.03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43800" y="3803904"/>
            <a:ext cx="1060704" cy="402336"/>
          </a:xfrm>
          <a:prstGeom prst="rect">
            <a:avLst/>
          </a:prstGeom>
          <a:solidFill>
            <a:srgbClr val="E0F5EE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43800" y="3803904"/>
            <a:ext cx="10607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75.3%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11480" y="4206240"/>
            <a:ext cx="151790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11480" y="4206240"/>
            <a:ext cx="15179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2048×2048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965960" y="4206240"/>
            <a:ext cx="78638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965960" y="4206240"/>
            <a:ext cx="78638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5×5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788920" y="4206240"/>
            <a:ext cx="87782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788920" y="4206240"/>
            <a:ext cx="8778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703320" y="4206240"/>
            <a:ext cx="133502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703320" y="4206240"/>
            <a:ext cx="13350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3.542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74920" y="4206240"/>
            <a:ext cx="142646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074920" y="4206240"/>
            <a:ext cx="14264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1.783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537960" y="4206240"/>
            <a:ext cx="96926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537960" y="4206240"/>
            <a:ext cx="9692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1.99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543800" y="4206240"/>
            <a:ext cx="1060704" cy="402336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543800" y="4206240"/>
            <a:ext cx="10607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99.3%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11480" y="4608576"/>
            <a:ext cx="151790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11480" y="4608576"/>
            <a:ext cx="15179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2048×2048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965960" y="4608576"/>
            <a:ext cx="78638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965960" y="4608576"/>
            <a:ext cx="78638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5×5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788920" y="4608576"/>
            <a:ext cx="87782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788920" y="4608576"/>
            <a:ext cx="8778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4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703320" y="4608576"/>
            <a:ext cx="133502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703320" y="4608576"/>
            <a:ext cx="13350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—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074920" y="4608576"/>
            <a:ext cx="142646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74920" y="4608576"/>
            <a:ext cx="14264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0.901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537960" y="4608576"/>
            <a:ext cx="96926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537960" y="4608576"/>
            <a:ext cx="9692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3.93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543800" y="4608576"/>
            <a:ext cx="106070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543800" y="4608576"/>
            <a:ext cx="10607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98.3%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11480" y="5010912"/>
            <a:ext cx="1517904" cy="402336"/>
          </a:xfrm>
          <a:prstGeom prst="rect">
            <a:avLst/>
          </a:prstGeom>
          <a:solidFill>
            <a:srgbClr val="E0F5EE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11480" y="5010912"/>
            <a:ext cx="15179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2048×2048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965960" y="5010912"/>
            <a:ext cx="786384" cy="402336"/>
          </a:xfrm>
          <a:prstGeom prst="rect">
            <a:avLst/>
          </a:prstGeom>
          <a:solidFill>
            <a:srgbClr val="E0F5EE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965960" y="5010912"/>
            <a:ext cx="78638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5×5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2788920" y="5010912"/>
            <a:ext cx="877824" cy="402336"/>
          </a:xfrm>
          <a:prstGeom prst="rect">
            <a:avLst/>
          </a:prstGeom>
          <a:solidFill>
            <a:srgbClr val="E0F5EE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2788920" y="5010912"/>
            <a:ext cx="8778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8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703320" y="5010912"/>
            <a:ext cx="1335024" cy="402336"/>
          </a:xfrm>
          <a:prstGeom prst="rect">
            <a:avLst/>
          </a:prstGeom>
          <a:solidFill>
            <a:srgbClr val="E0F5EE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703320" y="5010912"/>
            <a:ext cx="133502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—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074920" y="5010912"/>
            <a:ext cx="1426464" cy="402336"/>
          </a:xfrm>
          <a:prstGeom prst="rect">
            <a:avLst/>
          </a:prstGeom>
          <a:solidFill>
            <a:srgbClr val="E0F5EE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074920" y="5010912"/>
            <a:ext cx="14264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0.512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537960" y="5010912"/>
            <a:ext cx="969264" cy="402336"/>
          </a:xfrm>
          <a:prstGeom prst="rect">
            <a:avLst/>
          </a:prstGeom>
          <a:solidFill>
            <a:srgbClr val="E0F5EE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537960" y="5010912"/>
            <a:ext cx="96926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0A6A40"/>
                </a:solidFill>
              </a:rPr>
              <a:t>6.92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543800" y="5010912"/>
            <a:ext cx="1060704" cy="402336"/>
          </a:xfrm>
          <a:prstGeom prst="rect">
            <a:avLst/>
          </a:prstGeom>
          <a:solidFill>
            <a:srgbClr val="E0F5EE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543800" y="5010912"/>
            <a:ext cx="106070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F1F2D"/>
                </a:solidFill>
              </a:rPr>
              <a:t>86.5%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961120" y="1389888"/>
            <a:ext cx="2880360" cy="5029200"/>
          </a:xfrm>
          <a:prstGeom prst="rect">
            <a:avLst/>
          </a:prstGeom>
          <a:solidFill>
            <a:srgbClr val="E8F4FD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8961120" y="1389888"/>
            <a:ext cx="2880360" cy="914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098280" y="16002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</a:rPr>
              <a:t>Observações</a:t>
            </a:r>
          </a:p>
        </p:txBody>
      </p:sp>
      <p:sp>
        <p:nvSpPr>
          <p:cNvPr id="149" name="Oval 148"/>
          <p:cNvSpPr/>
          <p:nvPr/>
        </p:nvSpPr>
        <p:spPr>
          <a:xfrm>
            <a:off x="9098280" y="2185416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326880" y="2103120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0F1F2D"/>
                </a:solidFill>
              </a:rPr>
              <a:t>Imagens maiores = melhor eficiência</a:t>
            </a:r>
          </a:p>
        </p:txBody>
      </p:sp>
      <p:sp>
        <p:nvSpPr>
          <p:cNvPr id="151" name="Oval 150"/>
          <p:cNvSpPr/>
          <p:nvPr/>
        </p:nvSpPr>
        <p:spPr>
          <a:xfrm>
            <a:off x="9098280" y="2871216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326880" y="2788920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0F1F2D"/>
                </a:solidFill>
              </a:rPr>
              <a:t>Kernel 5×5 aproveita melhor as threads</a:t>
            </a:r>
          </a:p>
        </p:txBody>
      </p:sp>
      <p:sp>
        <p:nvSpPr>
          <p:cNvPr id="153" name="Oval 152"/>
          <p:cNvSpPr/>
          <p:nvPr/>
        </p:nvSpPr>
        <p:spPr>
          <a:xfrm>
            <a:off x="9098280" y="3557016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326880" y="3474720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0F1F2D"/>
                </a:solidFill>
              </a:rPr>
              <a:t>8 threads em 4 núcleos = Hyper-Threading</a:t>
            </a:r>
          </a:p>
        </p:txBody>
      </p:sp>
      <p:sp>
        <p:nvSpPr>
          <p:cNvPr id="155" name="Oval 154"/>
          <p:cNvSpPr/>
          <p:nvPr/>
        </p:nvSpPr>
        <p:spPr>
          <a:xfrm>
            <a:off x="9098280" y="4242816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326880" y="4160520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0F1F2D"/>
                </a:solidFill>
              </a:rPr>
              <a:t>Speedup máximo: 6.92× (2048×2048, 5×5)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098280" y="6035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A6A40"/>
                </a:solidFill>
              </a:rPr>
              <a:t>Verde = speedup ≥ 6×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65A82"/>
                </a:solidFill>
              </a:rPr>
              <a:t>Análise de Speedup e Eficiência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7293"/>
                </a:solidFill>
              </a:rPr>
              <a:t>Impacto do número de threads no desempenho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11430000" cy="36576"/>
          </a:xfrm>
          <a:prstGeom prst="rect">
            <a:avLst/>
          </a:prstGeom>
          <a:solidFill>
            <a:srgbClr val="F0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3657600" cy="5166360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65A82"/>
                </a:solidFill>
              </a:rPr>
              <a:t>512×512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27432" cy="246888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583419"/>
            <a:ext cx="685800" cy="577100"/>
          </a:xfrm>
          <a:prstGeom prst="rect">
            <a:avLst/>
          </a:prstGeom>
          <a:solidFill>
            <a:srgbClr val="ADD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63379"/>
            <a:ext cx="685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</a:rPr>
              <a:t>1.9×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062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</a:rPr>
              <a:t>2 threads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83080" y="3117418"/>
            <a:ext cx="685800" cy="1043101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080" y="2797378"/>
            <a:ext cx="685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</a:rPr>
              <a:t>3.4×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42062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</a:rPr>
              <a:t>4 threads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2700794"/>
            <a:ext cx="685800" cy="1459725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0" y="2380754"/>
            <a:ext cx="685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</a:rPr>
              <a:t>4.7×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2062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</a:rPr>
              <a:t>8 threads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17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</a:rPr>
              <a:t>Eficiência: 93% / 84% / 59%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1371600"/>
            <a:ext cx="3657600" cy="5166360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14630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65A82"/>
                </a:solidFill>
              </a:rPr>
              <a:t>1024×1024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17720" y="1691640"/>
            <a:ext cx="27432" cy="246888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54880" y="3552558"/>
            <a:ext cx="685800" cy="607961"/>
          </a:xfrm>
          <a:prstGeom prst="rect">
            <a:avLst/>
          </a:prstGeom>
          <a:solidFill>
            <a:srgbClr val="ADD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3232518"/>
            <a:ext cx="685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</a:rPr>
              <a:t>2.0×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2062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</a:rPr>
              <a:t>2 threads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15000" y="2997060"/>
            <a:ext cx="685800" cy="1163459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0" y="2677020"/>
            <a:ext cx="685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</a:rPr>
              <a:t>3.8×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42062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</a:rPr>
              <a:t>4 threads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0" y="2299601"/>
            <a:ext cx="685800" cy="186091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1979561"/>
            <a:ext cx="685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</a:rPr>
              <a:t>6.0×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42062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</a:rPr>
              <a:t>8 threads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4617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</a:rPr>
              <a:t>Eficiência: 98% / 94% / 75%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1371600"/>
            <a:ext cx="3657600" cy="5166360"/>
          </a:xfrm>
          <a:prstGeom prst="rect">
            <a:avLst/>
          </a:prstGeom>
          <a:solidFill>
            <a:srgbClr val="F0F5F9"/>
          </a:solidFill>
          <a:ln w="6350">
            <a:solidFill>
              <a:srgbClr val="CC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14630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65A82"/>
                </a:solidFill>
              </a:rPr>
              <a:t>2048×2048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49640" y="1691640"/>
            <a:ext cx="27432" cy="246888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0" y="3546386"/>
            <a:ext cx="685800" cy="614133"/>
          </a:xfrm>
          <a:prstGeom prst="rect">
            <a:avLst/>
          </a:prstGeom>
          <a:solidFill>
            <a:srgbClr val="ADD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226346"/>
            <a:ext cx="685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</a:rPr>
              <a:t>2.0×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42062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</a:rPr>
              <a:t>2 threads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46920" y="2947682"/>
            <a:ext cx="685800" cy="1212837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46920" y="2627642"/>
            <a:ext cx="685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</a:rPr>
              <a:t>3.9×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20" y="42062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</a:rPr>
              <a:t>4 threads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607040" y="2024938"/>
            <a:ext cx="685800" cy="2135581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07040" y="1704898"/>
            <a:ext cx="685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</a:rPr>
              <a:t>6.9×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42062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</a:rPr>
              <a:t>8 threads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60" y="4617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</a:rPr>
              <a:t>Eficiência: 99% / 98% / 86%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63550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64748B"/>
                </a:solidFill>
              </a:rPr>
              <a:t>Lei de Amdahl: quanto maior a imagem, mais trabalho por thread → melhor eficiência. Com imagens pequenas o overhead de criar threads pesa mais.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33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43000"/>
            <a:ext cx="10241280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508760"/>
            <a:ext cx="201168" cy="201168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17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2C39A"/>
                </a:solidFill>
              </a:rPr>
              <a:t>Paralelização simples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76479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0D8EC"/>
                </a:solidFill>
              </a:rPr>
              <a:t>#pragma omp parallel for collapse(2) — uma linha, grande ganho de desempenho.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404872"/>
            <a:ext cx="201168" cy="201168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13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2C39A"/>
                </a:solidFill>
              </a:rPr>
              <a:t>Sem condição de corrida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66090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0D8EC"/>
                </a:solidFill>
              </a:rPr>
              <a:t>Pixels de saída são independentes: cada thread escreve em posição diferente.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300984"/>
            <a:ext cx="201168" cy="201168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0954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2C39A"/>
                </a:solidFill>
              </a:rPr>
              <a:t>Escala com o problema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5701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0D8EC"/>
                </a:solidFill>
              </a:rPr>
              <a:t>Imagens grandes aproveitam melhor as threads. Speedup máximo: 6.92×.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197096"/>
            <a:ext cx="201168" cy="201168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10565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2C39A"/>
                </a:solidFill>
              </a:rPr>
              <a:t>Medição correta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531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0D8EC"/>
                </a:solidFill>
              </a:rPr>
              <a:t>omp_get_wtime() para tempo real. clock() dá resultado errado em paralelo.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5093208"/>
            <a:ext cx="201168" cy="201168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017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2C39A"/>
                </a:solidFill>
              </a:rPr>
              <a:t>Eficiência cai com threads+imagem pequena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0D8EC"/>
                </a:solidFill>
              </a:rPr>
              <a:t>Overhead de criação das threads pesa mais quando há pouco trabalho.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6263640"/>
            <a:ext cx="1024128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090B0"/>
                </a:solidFill>
              </a:rPr>
              <a:t>Gilbert Carmo  &amp;  Henio Pedro  ·  DEC107 — Processamento Paralelo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