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0" d="100"/>
          <a:sy n="60" d="100"/>
        </p:scale>
        <p:origin x="1116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09728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502920"/>
            <a:ext cx="3840480" cy="411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5029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DEC107 — Processamento Paralelo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Projeto 1 — Filtro Gaussiano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2C39A"/>
                </a:solidFill>
              </a:rPr>
              <a:t>Iterativo com OpenMP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BC6D8"/>
                </a:solidFill>
              </a:rPr>
              <a:t>Implementação Serial e Paralela em Memória Compartilhada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794760"/>
            <a:ext cx="10058400" cy="45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400507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Gilbert Carmo  &amp;  Henio Pedro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988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AA0BB"/>
                </a:solidFill>
              </a:rPr>
              <a:t>Acer Aspire A315-23G  ·  AMD Ryzen 7 3700U  ·  12 GB RAM  ·  WSL2 / Ubuntu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560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AA0BB"/>
                </a:solidFill>
              </a:rPr>
              <a:t>Maio de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1280160"/>
            <a:ext cx="1554480" cy="41148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0" y="18288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A6A90"/>
                </a:solidFill>
              </a:rPr>
              <a:t>SERIAL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26517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A6A90"/>
                </a:solidFill>
              </a:rPr>
              <a:t>OPENMP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4747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A6A90"/>
                </a:solidFill>
              </a:rPr>
              <a:t>SPEEDUP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42976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A6A90"/>
                </a:solidFill>
              </a:rPr>
              <a:t>PGM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65A82"/>
                </a:solidFill>
              </a:rPr>
              <a:t>O Filtro Gaussiano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748A"/>
                </a:solidFill>
              </a:rPr>
              <a:t>Conceito, kernel e funcionamento iterativo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53312"/>
            <a:ext cx="5394960" cy="1417320"/>
          </a:xfrm>
          <a:prstGeom prst="roundRect">
            <a:avLst/>
          </a:prstGeom>
          <a:solidFill>
            <a:srgbClr val="F0F7FB"/>
          </a:solidFill>
          <a:ln w="6350">
            <a:solidFill>
              <a:srgbClr val="E2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21792" y="1517904"/>
            <a:ext cx="475488" cy="47548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51790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536192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02E"/>
                </a:solidFill>
              </a:rPr>
              <a:t>O que faz?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66544"/>
            <a:ext cx="5065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48A"/>
                </a:solidFill>
              </a:rPr>
              <a:t>Suaviza a imagem reduzindo ruídos. Cada pixel de saída é uma média ponderada dos seus vizinhos — os mais próximos ao centro pesam mais.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89504"/>
            <a:ext cx="5394960" cy="1417320"/>
          </a:xfrm>
          <a:prstGeom prst="roundRect">
            <a:avLst/>
          </a:prstGeom>
          <a:solidFill>
            <a:srgbClr val="F0F7FB"/>
          </a:solidFill>
          <a:ln w="6350">
            <a:solidFill>
              <a:srgbClr val="E2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21792" y="3054096"/>
            <a:ext cx="475488" cy="47548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305409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072384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02E"/>
                </a:solidFill>
              </a:rPr>
              <a:t>Como é iterativo?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602736"/>
            <a:ext cx="5065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48A"/>
                </a:solidFill>
              </a:rPr>
              <a:t>Aplicamos o filtro 10 vezes seguidas. A saída de cada rodada é a entrada da próxima, aumentando o desfoque progressivamente.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25696"/>
            <a:ext cx="5394960" cy="1417320"/>
          </a:xfrm>
          <a:prstGeom prst="roundRect">
            <a:avLst/>
          </a:prstGeom>
          <a:solidFill>
            <a:srgbClr val="F0F7FB"/>
          </a:solidFill>
          <a:ln w="6350">
            <a:solidFill>
              <a:srgbClr val="E2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21792" y="4590288"/>
            <a:ext cx="475488" cy="47548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459028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608576"/>
            <a:ext cx="4434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02E"/>
                </a:solidFill>
              </a:rPr>
              <a:t>Por que paralelizar?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138928"/>
            <a:ext cx="50657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48A"/>
                </a:solidFill>
              </a:rPr>
              <a:t>Cada pixel de saída é independente dos outros na mesma iteração. Isso permite que threads diferentes calculem pixels diferentes ao mesmo tempo, sem conflito.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35331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5A82"/>
                </a:solidFill>
              </a:rPr>
              <a:t>Kernel Gaussiano 3×3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1920240"/>
            <a:ext cx="1088136" cy="905256"/>
          </a:xfrm>
          <a:prstGeom prst="rect">
            <a:avLst/>
          </a:prstGeom>
          <a:solidFill>
            <a:srgbClr val="AD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03720" y="1920240"/>
            <a:ext cx="108813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920240"/>
            <a:ext cx="1088136" cy="9052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1920240"/>
            <a:ext cx="108813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1920240"/>
            <a:ext cx="1088136" cy="905256"/>
          </a:xfrm>
          <a:prstGeom prst="rect">
            <a:avLst/>
          </a:prstGeom>
          <a:solidFill>
            <a:srgbClr val="AD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9720" y="1920240"/>
            <a:ext cx="108813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03720" y="2880360"/>
            <a:ext cx="1088136" cy="9052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03720" y="2880360"/>
            <a:ext cx="108813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2880360"/>
            <a:ext cx="1088136" cy="90525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0" y="2880360"/>
            <a:ext cx="108813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2880360"/>
            <a:ext cx="1088136" cy="9052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89720" y="2880360"/>
            <a:ext cx="108813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03720" y="3840480"/>
            <a:ext cx="1088136" cy="905256"/>
          </a:xfrm>
          <a:prstGeom prst="rect">
            <a:avLst/>
          </a:prstGeom>
          <a:solidFill>
            <a:srgbClr val="AD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03720" y="3840480"/>
            <a:ext cx="108813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3840480"/>
            <a:ext cx="1088136" cy="90525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20" y="3840480"/>
            <a:ext cx="108813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9720" y="3840480"/>
            <a:ext cx="1088136" cy="905256"/>
          </a:xfrm>
          <a:prstGeom prst="rect">
            <a:avLst/>
          </a:prstGeom>
          <a:solidFill>
            <a:srgbClr val="AD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89720" y="3840480"/>
            <a:ext cx="108813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9560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A748A"/>
                </a:solidFill>
              </a:rPr>
              <a:t>Soma dos pesos = 16  →  divide por 16 para normalizar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413248"/>
            <a:ext cx="5303520" cy="45720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54132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Kernel 5×5: soma dos pesos = 256  →  divide por 256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65A82"/>
                </a:solidFill>
              </a:rPr>
              <a:t>Serial  vs  Paralelo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748A"/>
                </a:solidFill>
              </a:rPr>
              <a:t>Como o OpenMP transforma o código com uma única linha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5394960" cy="2560320"/>
          </a:xfrm>
          <a:prstGeom prst="roundRect">
            <a:avLst/>
          </a:prstGeom>
          <a:solidFill>
            <a:srgbClr val="0F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C39A"/>
                </a:solidFill>
              </a:rPr>
              <a:t>Versão SERIAL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0136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for (it = 0; it &lt; ITERACOES; it++)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4825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for (i = 1; i &lt; tam-1; i++)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9514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  for (j = 1; j &lt; tam-1; j++)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420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    saida[i][j] = aplicar3x3(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                  entrada, i, j);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358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 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826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2958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// troca ponteiros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7647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float** t = entrada;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0233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entrada = saida; saida = 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702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325880"/>
            <a:ext cx="5394960" cy="2560320"/>
          </a:xfrm>
          <a:prstGeom prst="roundRect">
            <a:avLst/>
          </a:prstGeom>
          <a:solidFill>
            <a:srgbClr val="0F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4173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C39A"/>
                </a:solidFill>
              </a:rPr>
              <a:t>Versão PARALELA (OpenMP)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801368"/>
            <a:ext cx="5212080" cy="292608"/>
          </a:xfrm>
          <a:prstGeom prst="rect">
            <a:avLst/>
          </a:prstGeom>
          <a:solidFill>
            <a:srgbClr val="02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180136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#pragma omp parallel for collapse(2)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1488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for (i = 1; i &lt; tam-1; i++)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39572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for (j = 1; j &lt; tam-1; j++) {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64261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  saida[i][j] = aplicar3x3(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88950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                entrada, i, j);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13639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3832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6301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// troca ponteiros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87705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float** t = entrada;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12394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entrada = saida; saida = 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2468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2C39A"/>
                </a:solidFill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114800"/>
            <a:ext cx="3611880" cy="2377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114800"/>
            <a:ext cx="3611880" cy="914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1792" y="43159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</a:rPr>
              <a:t>collapse(2)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477316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748A"/>
                </a:solidFill>
              </a:rPr>
              <a:t>Funde os dois loops em um único espaço de iterações — melhor divisão do trabalho entre threads.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53128" y="4114800"/>
            <a:ext cx="3611880" cy="2377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453128" y="4114800"/>
            <a:ext cx="3611880" cy="914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17720" y="43159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</a:rPr>
              <a:t>Sem corrida de dados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477316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748A"/>
                </a:solidFill>
              </a:rPr>
              <a:t>Cada thread escreve num pixel diferente de 'saida'. Só lê de 'entrada' — sem conflito.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49056" y="4114800"/>
            <a:ext cx="3611880" cy="2377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449056" y="4114800"/>
            <a:ext cx="3611880" cy="914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13648" y="43159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</a:rPr>
              <a:t>omp_get_wtime()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13648" y="4773168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748A"/>
                </a:solidFill>
              </a:rPr>
              <a:t>Mede tempo real (wall time). clock() somaria CPU de todas as threads e daria resultado errado.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65A82"/>
                </a:solidFill>
              </a:rPr>
              <a:t>Metodologia e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748A"/>
                </a:solidFill>
              </a:rPr>
              <a:t>Configurações dos testes e ambiente de execução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64516"/>
            <a:ext cx="548640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338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</a:rPr>
              <a:t>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5887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748A"/>
                </a:solidFill>
              </a:rPr>
              <a:t>💻  Computador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75887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2E"/>
                </a:solidFill>
              </a:rPr>
              <a:t>Acer Aspire A315-23G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0868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748A"/>
                </a:solidFill>
              </a:rPr>
              <a:t>⚙️  Processador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50868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2E"/>
                </a:solidFill>
              </a:rPr>
              <a:t>AMD Ryzen 7 3700U
4 núcleos físicos · 8 threads · 2,30 GHz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584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748A"/>
                </a:solidFill>
              </a:rPr>
              <a:t>🧠  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25849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2E"/>
                </a:solidFill>
              </a:rPr>
              <a:t>12 GB DDR4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083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748A"/>
                </a:solidFill>
              </a:rPr>
              <a:t>🐧  Sistema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0083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2E"/>
                </a:solidFill>
              </a:rPr>
              <a:t>WSL2 (Ubuntu) no Windows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581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748A"/>
                </a:solidFill>
              </a:rPr>
              <a:t>🔨  Compilação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475810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2E"/>
                </a:solidFill>
              </a:rPr>
              <a:t>gcc -O2 -fopenmp etapa1_openmp.c -o etapa1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124175"/>
            <a:ext cx="530352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1243047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</a:rPr>
              <a:t>Configurações de Teste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718535"/>
            <a:ext cx="4937760" cy="731520"/>
          </a:xfrm>
          <a:prstGeom prst="rect">
            <a:avLst/>
          </a:prstGeom>
          <a:solidFill>
            <a:srgbClr val="F0F7FB"/>
          </a:solidFill>
          <a:ln w="6350">
            <a:solidFill>
              <a:srgbClr val="E2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2" y="1764255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A748A"/>
                </a:solidFill>
              </a:rPr>
              <a:t>Tamanhos de imagem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2066007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2E"/>
                </a:solidFill>
              </a:rPr>
              <a:t>512×512  ·  1024×1024  ·  2048×2048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614647"/>
            <a:ext cx="4937760" cy="731520"/>
          </a:xfrm>
          <a:prstGeom prst="rect">
            <a:avLst/>
          </a:prstGeom>
          <a:solidFill>
            <a:srgbClr val="F0F7FB"/>
          </a:solidFill>
          <a:ln w="6350">
            <a:solidFill>
              <a:srgbClr val="E2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48272" y="2660367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A748A"/>
                </a:solidFill>
              </a:rPr>
              <a:t>Kernels testados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2962119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2E"/>
                </a:solidFill>
              </a:rPr>
              <a:t>3×3  (÷16)    e    5×5  (÷256)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510759"/>
            <a:ext cx="4937760" cy="731520"/>
          </a:xfrm>
          <a:prstGeom prst="rect">
            <a:avLst/>
          </a:prstGeom>
          <a:solidFill>
            <a:srgbClr val="F0F7FB"/>
          </a:solidFill>
          <a:ln w="6350">
            <a:solidFill>
              <a:srgbClr val="E2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48272" y="3556479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A748A"/>
                </a:solidFill>
              </a:rPr>
              <a:t>Threads paralelas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3858231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2E"/>
                </a:solidFill>
              </a:rPr>
              <a:t>2  ·  4  ·  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4406871"/>
            <a:ext cx="4937760" cy="731520"/>
          </a:xfrm>
          <a:prstGeom prst="rect">
            <a:avLst/>
          </a:prstGeom>
          <a:solidFill>
            <a:srgbClr val="F0F7FB"/>
          </a:solidFill>
          <a:ln w="6350">
            <a:solidFill>
              <a:srgbClr val="E2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48272" y="4452591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A748A"/>
                </a:solidFill>
              </a:rPr>
              <a:t>Iterações por teste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4754343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2E"/>
                </a:solidFill>
              </a:rPr>
              <a:t>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5302983"/>
            <a:ext cx="4937760" cy="731520"/>
          </a:xfrm>
          <a:prstGeom prst="rect">
            <a:avLst/>
          </a:prstGeom>
          <a:solidFill>
            <a:srgbClr val="F0F7FB"/>
          </a:solidFill>
          <a:ln w="6350">
            <a:solidFill>
              <a:srgbClr val="E2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48272" y="5348703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A748A"/>
                </a:solidFill>
              </a:rPr>
              <a:t>Medição de tempo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5650455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2E"/>
                </a:solidFill>
              </a:rPr>
              <a:t>omp_get_wtime() — wall time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6120563"/>
            <a:ext cx="530352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6201245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Speedup = T.Serial / T.Paralelo     ·     Eficiência = (Speedup ÷ Threads) × 100%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8402" y="572738"/>
            <a:ext cx="679688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 err="1">
                <a:solidFill>
                  <a:srgbClr val="065A82"/>
                </a:solidFill>
              </a:rPr>
              <a:t>Resultados</a:t>
            </a:r>
            <a:r>
              <a:rPr sz="3400" b="1" i="0" dirty="0">
                <a:solidFill>
                  <a:srgbClr val="065A82"/>
                </a:solidFill>
              </a:rPr>
              <a:t> — </a:t>
            </a:r>
            <a:endParaRPr lang="pt-BR" sz="3400" b="1" i="0" dirty="0">
              <a:solidFill>
                <a:srgbClr val="065A82"/>
              </a:solidFill>
            </a:endParaRPr>
          </a:p>
          <a:p>
            <a:pPr algn="l"/>
            <a:r>
              <a:rPr sz="3400" b="1" i="0" dirty="0">
                <a:solidFill>
                  <a:srgbClr val="065A82"/>
                </a:solidFill>
              </a:rPr>
              <a:t>Benchmark </a:t>
            </a:r>
            <a:r>
              <a:rPr sz="3400" b="1" i="0" dirty="0" err="1">
                <a:solidFill>
                  <a:srgbClr val="065A82"/>
                </a:solidFill>
              </a:rPr>
              <a:t>Completo</a:t>
            </a:r>
            <a:endParaRPr sz="3400" b="1" i="0" dirty="0">
              <a:solidFill>
                <a:srgbClr val="065A8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8402" y="1711511"/>
            <a:ext cx="390383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5A748A"/>
                </a:solidFill>
              </a:rPr>
              <a:t>10 </a:t>
            </a:r>
            <a:r>
              <a:rPr sz="1300" b="0" i="1" dirty="0" err="1">
                <a:solidFill>
                  <a:srgbClr val="5A748A"/>
                </a:solidFill>
              </a:rPr>
              <a:t>iterações</a:t>
            </a:r>
            <a:r>
              <a:rPr sz="1300" b="0" i="1" dirty="0">
                <a:solidFill>
                  <a:srgbClr val="5A748A"/>
                </a:solidFill>
              </a:rPr>
              <a:t> · kernels 3×3 e 5×5 · 2/4/8 threads  | </a:t>
            </a:r>
            <a:endParaRPr lang="pt-BR" sz="1300" b="0" i="1" dirty="0">
              <a:solidFill>
                <a:srgbClr val="5A748A"/>
              </a:solidFill>
            </a:endParaRPr>
          </a:p>
          <a:p>
            <a:pPr algn="l"/>
            <a:r>
              <a:rPr sz="1300" b="0" i="1" dirty="0">
                <a:solidFill>
                  <a:srgbClr val="5A748A"/>
                </a:solidFill>
              </a:rPr>
              <a:t> </a:t>
            </a:r>
            <a:r>
              <a:rPr sz="1300" b="0" i="1" dirty="0" err="1">
                <a:solidFill>
                  <a:srgbClr val="5A748A"/>
                </a:solidFill>
              </a:rPr>
              <a:t>verde</a:t>
            </a:r>
            <a:r>
              <a:rPr sz="1300" b="0" i="1" dirty="0">
                <a:solidFill>
                  <a:srgbClr val="5A748A"/>
                </a:solidFill>
              </a:rPr>
              <a:t> = speedup </a:t>
            </a:r>
            <a:r>
              <a:rPr sz="1300" b="0" i="1" dirty="0" err="1">
                <a:solidFill>
                  <a:srgbClr val="5A748A"/>
                </a:solidFill>
              </a:rPr>
              <a:t>máximo</a:t>
            </a:r>
            <a:r>
              <a:rPr sz="1300" b="0" i="1" dirty="0">
                <a:solidFill>
                  <a:srgbClr val="5A748A"/>
                </a:solidFill>
              </a:rPr>
              <a:t> (3.13×)</a:t>
            </a:r>
          </a:p>
        </p:txBody>
      </p:sp>
      <p:sp>
        <p:nvSpPr>
          <p:cNvPr id="4" name="Rectangle 3"/>
          <p:cNvSpPr/>
          <p:nvPr/>
        </p:nvSpPr>
        <p:spPr>
          <a:xfrm>
            <a:off x="4457248" y="274362"/>
            <a:ext cx="1394460" cy="232257"/>
          </a:xfrm>
          <a:prstGeom prst="rect">
            <a:avLst/>
          </a:prstGeom>
          <a:solidFill>
            <a:srgbClr val="065A82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457248" y="274362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Tamanho</a:t>
            </a:r>
          </a:p>
        </p:txBody>
      </p:sp>
      <p:sp>
        <p:nvSpPr>
          <p:cNvPr id="6" name="Rectangle 5"/>
          <p:cNvSpPr/>
          <p:nvPr/>
        </p:nvSpPr>
        <p:spPr>
          <a:xfrm>
            <a:off x="5874568" y="274362"/>
            <a:ext cx="726948" cy="232257"/>
          </a:xfrm>
          <a:prstGeom prst="rect">
            <a:avLst/>
          </a:prstGeom>
          <a:solidFill>
            <a:srgbClr val="065A82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74568" y="274362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Kernel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4376" y="274362"/>
            <a:ext cx="781812" cy="232257"/>
          </a:xfrm>
          <a:prstGeom prst="rect">
            <a:avLst/>
          </a:prstGeom>
          <a:solidFill>
            <a:srgbClr val="065A82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4376" y="274362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Threads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29048" y="274362"/>
            <a:ext cx="1092708" cy="232257"/>
          </a:xfrm>
          <a:prstGeom prst="rect">
            <a:avLst/>
          </a:prstGeom>
          <a:solidFill>
            <a:srgbClr val="065A82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29048" y="274362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T. Serial (s)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4616" y="274362"/>
            <a:ext cx="1184148" cy="232257"/>
          </a:xfrm>
          <a:prstGeom prst="rect">
            <a:avLst/>
          </a:prstGeom>
          <a:solidFill>
            <a:srgbClr val="065A82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44616" y="274362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T. Paralelo (s)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51624" y="274362"/>
            <a:ext cx="891540" cy="232257"/>
          </a:xfrm>
          <a:prstGeom prst="rect">
            <a:avLst/>
          </a:prstGeom>
          <a:solidFill>
            <a:srgbClr val="065A82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51624" y="274362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Speedup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66024" y="274362"/>
            <a:ext cx="982980" cy="232257"/>
          </a:xfrm>
          <a:prstGeom prst="rect">
            <a:avLst/>
          </a:prstGeom>
          <a:solidFill>
            <a:srgbClr val="065A82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66024" y="274362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Eficiência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57248" y="524907"/>
            <a:ext cx="1394460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57248" y="524907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512×512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74568" y="524907"/>
            <a:ext cx="726948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74568" y="524907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3×3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4376" y="524907"/>
            <a:ext cx="781812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4376" y="524907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Serial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29048" y="524907"/>
            <a:ext cx="1092708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29048" y="524907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0.0356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44616" y="524907"/>
            <a:ext cx="1184148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4616" y="524907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51624" y="524907"/>
            <a:ext cx="891540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51624" y="524907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66024" y="524907"/>
            <a:ext cx="982980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66024" y="524907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57248" y="775452"/>
            <a:ext cx="139446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57248" y="775452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512×512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74568" y="775452"/>
            <a:ext cx="72694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74568" y="775452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3×3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24376" y="775452"/>
            <a:ext cx="781812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24376" y="775452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29048" y="775452"/>
            <a:ext cx="109270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29048" y="775452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44616" y="775452"/>
            <a:ext cx="118414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44616" y="775452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0.0276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51624" y="775452"/>
            <a:ext cx="89154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751624" y="775452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1.29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66024" y="775452"/>
            <a:ext cx="98298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666024" y="775452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64.5%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57248" y="1025997"/>
            <a:ext cx="1394460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57248" y="1025997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512×512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74568" y="1025997"/>
            <a:ext cx="726948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874568" y="1025997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3×3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4376" y="1025997"/>
            <a:ext cx="781812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24376" y="1025997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29048" y="1025997"/>
            <a:ext cx="1092708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429048" y="1025997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44616" y="1025997"/>
            <a:ext cx="1184148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44616" y="1025997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0.0151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51624" y="1025997"/>
            <a:ext cx="891540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751624" y="1025997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2.37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666024" y="1025997"/>
            <a:ext cx="982980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666024" y="1025997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59.2%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57248" y="1276542"/>
            <a:ext cx="139446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457248" y="1276542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512×512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4568" y="1276542"/>
            <a:ext cx="72694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874568" y="1276542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3×3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24376" y="1276542"/>
            <a:ext cx="781812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624376" y="1276542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29048" y="1276542"/>
            <a:ext cx="109270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29048" y="1276542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44616" y="1276542"/>
            <a:ext cx="118414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544616" y="1276542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0.0177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751624" y="1276542"/>
            <a:ext cx="89154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751624" y="1276542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2.01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666024" y="1276542"/>
            <a:ext cx="98298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666024" y="1276542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25.1%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57248" y="1527087"/>
            <a:ext cx="1394460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457248" y="1527087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512×512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874568" y="1527087"/>
            <a:ext cx="726948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874568" y="1527087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5×5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624376" y="1527087"/>
            <a:ext cx="781812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624376" y="1527087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Serial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29048" y="1527087"/>
            <a:ext cx="1092708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429048" y="1527087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0.0759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44616" y="1527087"/>
            <a:ext cx="1184148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544616" y="1527087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751624" y="1527087"/>
            <a:ext cx="891540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751624" y="1527087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666024" y="1527087"/>
            <a:ext cx="982980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666024" y="1527087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457248" y="1777632"/>
            <a:ext cx="139446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457248" y="1777632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512×512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874568" y="1777632"/>
            <a:ext cx="72694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874568" y="1777632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5×5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624376" y="1777632"/>
            <a:ext cx="781812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624376" y="1777632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429048" y="1777632"/>
            <a:ext cx="109270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429048" y="1777632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44616" y="1777632"/>
            <a:ext cx="118414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544616" y="1777632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0.0508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751624" y="1777632"/>
            <a:ext cx="89154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751624" y="1777632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1.50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666024" y="1777632"/>
            <a:ext cx="98298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666024" y="1777632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74.8%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457248" y="2028177"/>
            <a:ext cx="1394460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457248" y="2028177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512×512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4568" y="2028177"/>
            <a:ext cx="726948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874568" y="2028177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5×5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624376" y="2028177"/>
            <a:ext cx="781812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624376" y="2028177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429048" y="2028177"/>
            <a:ext cx="1092708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7429048" y="2028177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544616" y="2028177"/>
            <a:ext cx="1184148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544616" y="2028177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0.0332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751624" y="2028177"/>
            <a:ext cx="891540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9751624" y="2028177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2.28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666024" y="2028177"/>
            <a:ext cx="982980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0666024" y="2028177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57.1%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457248" y="2278722"/>
            <a:ext cx="139446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4457248" y="2278722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512×512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874568" y="2278722"/>
            <a:ext cx="72694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874568" y="2278722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5×5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624376" y="2278722"/>
            <a:ext cx="781812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624376" y="2278722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8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429048" y="2278722"/>
            <a:ext cx="109270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429048" y="2278722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544616" y="2278722"/>
            <a:ext cx="118414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8544616" y="2278722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0.0298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751624" y="2278722"/>
            <a:ext cx="89154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9751624" y="2278722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2.54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0666024" y="2278722"/>
            <a:ext cx="98298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10666024" y="2278722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31.8%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457248" y="2529267"/>
            <a:ext cx="1394460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4457248" y="2529267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1024×1024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874568" y="2529267"/>
            <a:ext cx="726948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5874568" y="2529267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3×3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624376" y="2529267"/>
            <a:ext cx="781812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624376" y="2529267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Serial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429048" y="2529267"/>
            <a:ext cx="1092708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7429048" y="2529267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0.1118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544616" y="2529267"/>
            <a:ext cx="1184148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8544616" y="2529267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751624" y="2529267"/>
            <a:ext cx="891540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9751624" y="2529267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0666024" y="2529267"/>
            <a:ext cx="982980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10666024" y="2529267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457248" y="2779812"/>
            <a:ext cx="139446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4457248" y="2779812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1024×1024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874568" y="2779812"/>
            <a:ext cx="72694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5874568" y="2779812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3×3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624376" y="2779812"/>
            <a:ext cx="781812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6624376" y="2779812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429048" y="2779812"/>
            <a:ext cx="109270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429048" y="2779812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544616" y="2779812"/>
            <a:ext cx="118414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8544616" y="2779812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0.0705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751624" y="2779812"/>
            <a:ext cx="89154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9751624" y="2779812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1.58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0666024" y="2779812"/>
            <a:ext cx="98298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10666024" y="2779812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79.2%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457248" y="3030357"/>
            <a:ext cx="1394460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4457248" y="3030357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1024×1024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874568" y="3030357"/>
            <a:ext cx="726948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5874568" y="3030357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3×3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624376" y="3030357"/>
            <a:ext cx="781812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6624376" y="3030357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4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429048" y="3030357"/>
            <a:ext cx="1092708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7429048" y="3030357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8544616" y="3030357"/>
            <a:ext cx="1184148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8544616" y="3030357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0.0405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751624" y="3030357"/>
            <a:ext cx="891540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9751624" y="3030357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2.76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666024" y="3030357"/>
            <a:ext cx="982980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10666024" y="3030357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69.0%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457248" y="3280902"/>
            <a:ext cx="139446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4457248" y="3280902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1024×1024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5874568" y="3280902"/>
            <a:ext cx="72694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5874568" y="3280902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3×3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624376" y="3280902"/>
            <a:ext cx="781812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6624376" y="3280902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8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429048" y="3280902"/>
            <a:ext cx="109270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7429048" y="3280902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544616" y="3280902"/>
            <a:ext cx="118414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8544616" y="3280902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0.0523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751624" y="3280902"/>
            <a:ext cx="89154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9751624" y="3280902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2.14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0666024" y="3280902"/>
            <a:ext cx="98298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10666024" y="3280902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26.7%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4457248" y="3531447"/>
            <a:ext cx="1394460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4457248" y="3531447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1024×1024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5874568" y="3531447"/>
            <a:ext cx="726948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5874568" y="3531447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5×5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624376" y="3531447"/>
            <a:ext cx="781812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6624376" y="3531447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Serial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7429048" y="3531447"/>
            <a:ext cx="1092708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7429048" y="3531447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0.2182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544616" y="3531447"/>
            <a:ext cx="1184148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8544616" y="3531447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9751624" y="3531447"/>
            <a:ext cx="891540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9751624" y="3531447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10666024" y="3531447"/>
            <a:ext cx="982980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10666024" y="3531447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4457248" y="3781992"/>
            <a:ext cx="139446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4457248" y="3781992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1024×1024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5874568" y="3781992"/>
            <a:ext cx="72694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5874568" y="3781992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5×5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6624376" y="3781992"/>
            <a:ext cx="781812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6624376" y="3781992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7429048" y="3781992"/>
            <a:ext cx="109270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7429048" y="3781992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8544616" y="3781992"/>
            <a:ext cx="118414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8544616" y="3781992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0.1268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9751624" y="3781992"/>
            <a:ext cx="89154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9751624" y="3781992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1.72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10666024" y="3781992"/>
            <a:ext cx="98298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10666024" y="3781992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86.0%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4457248" y="4032537"/>
            <a:ext cx="1394460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4457248" y="4032537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1024×1024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5874568" y="4032537"/>
            <a:ext cx="726948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5874568" y="4032537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5×5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6624376" y="4032537"/>
            <a:ext cx="781812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6624376" y="4032537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4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7429048" y="4032537"/>
            <a:ext cx="1092708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7429048" y="4032537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8544616" y="4032537"/>
            <a:ext cx="1184148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8544616" y="4032537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0.0833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9751624" y="4032537"/>
            <a:ext cx="891540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9751624" y="4032537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2.62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10666024" y="4032537"/>
            <a:ext cx="982980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10666024" y="4032537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65.5%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4457248" y="4283082"/>
            <a:ext cx="139446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4457248" y="4283082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1024×1024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5874568" y="4283082"/>
            <a:ext cx="72694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5874568" y="4283082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5×5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6624376" y="4283082"/>
            <a:ext cx="781812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6624376" y="4283082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8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7429048" y="4283082"/>
            <a:ext cx="109270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7429048" y="4283082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8544616" y="4283082"/>
            <a:ext cx="118414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8544616" y="4283082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0.0794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9751624" y="4283082"/>
            <a:ext cx="89154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9751624" y="4283082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2.75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0666024" y="4283082"/>
            <a:ext cx="98298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10666024" y="4283082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34.4%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4457248" y="4533627"/>
            <a:ext cx="1394460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4457248" y="4533627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2048×2048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5874568" y="4533627"/>
            <a:ext cx="726948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5874568" y="4533627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3×3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6624376" y="4533627"/>
            <a:ext cx="781812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6624376" y="4533627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Serial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7429048" y="4533627"/>
            <a:ext cx="1092708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7429048" y="4533627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0.3851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8544616" y="4533627"/>
            <a:ext cx="1184148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8544616" y="4533627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751624" y="4533627"/>
            <a:ext cx="891540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9751624" y="4533627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10666024" y="4533627"/>
            <a:ext cx="982980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10666024" y="4533627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4457248" y="4784172"/>
            <a:ext cx="139446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4457248" y="4784172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2048×2048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5874568" y="4784172"/>
            <a:ext cx="72694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5874568" y="4784172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3×3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6624376" y="4784172"/>
            <a:ext cx="781812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6624376" y="4784172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7429048" y="4784172"/>
            <a:ext cx="109270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7429048" y="4784172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8544616" y="4784172"/>
            <a:ext cx="118414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8544616" y="4784172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0.2316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9751624" y="4784172"/>
            <a:ext cx="89154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9751624" y="4784172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1.66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10666024" y="4784172"/>
            <a:ext cx="98298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10666024" y="4784172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83.1%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4457248" y="5034717"/>
            <a:ext cx="1394460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4457248" y="5034717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2048×2048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5874568" y="5034717"/>
            <a:ext cx="726948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5874568" y="5034717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3×3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6624376" y="5034717"/>
            <a:ext cx="781812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6624376" y="5034717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4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7429048" y="5034717"/>
            <a:ext cx="1092708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7429048" y="5034717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8544616" y="5034717"/>
            <a:ext cx="1184148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8544616" y="5034717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0.1504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9751624" y="5034717"/>
            <a:ext cx="891540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9751624" y="5034717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2.56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10666024" y="5034717"/>
            <a:ext cx="982980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10666024" y="5034717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64.0%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4457248" y="5285262"/>
            <a:ext cx="1394460" cy="232257"/>
          </a:xfrm>
          <a:prstGeom prst="rect">
            <a:avLst/>
          </a:prstGeom>
          <a:solidFill>
            <a:srgbClr val="D4EDDA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4457248" y="5285262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2048×2048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5874568" y="5285262"/>
            <a:ext cx="726948" cy="232257"/>
          </a:xfrm>
          <a:prstGeom prst="rect">
            <a:avLst/>
          </a:prstGeom>
          <a:solidFill>
            <a:srgbClr val="D4EDDA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5874568" y="5285262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3×3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6624376" y="5285262"/>
            <a:ext cx="781812" cy="232257"/>
          </a:xfrm>
          <a:prstGeom prst="rect">
            <a:avLst/>
          </a:prstGeom>
          <a:solidFill>
            <a:srgbClr val="D4EDDA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6624376" y="5285262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8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7429048" y="5285262"/>
            <a:ext cx="1092708" cy="232257"/>
          </a:xfrm>
          <a:prstGeom prst="rect">
            <a:avLst/>
          </a:prstGeom>
          <a:solidFill>
            <a:srgbClr val="D4EDDA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7429048" y="5285262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8544616" y="5285262"/>
            <a:ext cx="1184148" cy="232257"/>
          </a:xfrm>
          <a:prstGeom prst="rect">
            <a:avLst/>
          </a:prstGeom>
          <a:solidFill>
            <a:srgbClr val="D4EDDA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8544616" y="5285262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0.1230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9751624" y="5285262"/>
            <a:ext cx="891540" cy="232257"/>
          </a:xfrm>
          <a:prstGeom prst="rect">
            <a:avLst/>
          </a:prstGeom>
          <a:solidFill>
            <a:srgbClr val="D4EDDA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9751624" y="5285262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A6A40"/>
                </a:solidFill>
              </a:rPr>
              <a:t>3.13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10666024" y="5285262"/>
            <a:ext cx="982980" cy="232257"/>
          </a:xfrm>
          <a:prstGeom prst="rect">
            <a:avLst/>
          </a:prstGeom>
          <a:solidFill>
            <a:srgbClr val="D4EDDA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TextBox 296"/>
          <p:cNvSpPr txBox="1"/>
          <p:nvPr/>
        </p:nvSpPr>
        <p:spPr>
          <a:xfrm>
            <a:off x="10666024" y="5285262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39.1%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4457248" y="5535807"/>
            <a:ext cx="1394460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4457248" y="5535807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2048×2048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5874568" y="5535807"/>
            <a:ext cx="726948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5874568" y="5535807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5×5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6624376" y="5535807"/>
            <a:ext cx="781812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6624376" y="5535807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Serial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7429048" y="5535807"/>
            <a:ext cx="1092708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7429048" y="5535807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0.7524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8544616" y="5535807"/>
            <a:ext cx="1184148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8544616" y="5535807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9751624" y="5535807"/>
            <a:ext cx="891540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9751624" y="5535807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10666024" y="5535807"/>
            <a:ext cx="982980" cy="232257"/>
          </a:xfrm>
          <a:prstGeom prst="rect">
            <a:avLst/>
          </a:prstGeom>
          <a:solidFill>
            <a:srgbClr val="E8F0F7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10666024" y="5535807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457248" y="5786352"/>
            <a:ext cx="139446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4457248" y="5786352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2048×2048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5874568" y="5786352"/>
            <a:ext cx="72694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TextBox 314"/>
          <p:cNvSpPr txBox="1"/>
          <p:nvPr/>
        </p:nvSpPr>
        <p:spPr>
          <a:xfrm>
            <a:off x="5874568" y="5786352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5×5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6624376" y="5786352"/>
            <a:ext cx="781812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6624376" y="5786352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7429048" y="5786352"/>
            <a:ext cx="109270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TextBox 318"/>
          <p:cNvSpPr txBox="1"/>
          <p:nvPr/>
        </p:nvSpPr>
        <p:spPr>
          <a:xfrm>
            <a:off x="7429048" y="5786352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8544616" y="5786352"/>
            <a:ext cx="118414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TextBox 320"/>
          <p:cNvSpPr txBox="1"/>
          <p:nvPr/>
        </p:nvSpPr>
        <p:spPr>
          <a:xfrm>
            <a:off x="8544616" y="5786352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0.5129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9751624" y="5786352"/>
            <a:ext cx="89154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TextBox 322"/>
          <p:cNvSpPr txBox="1"/>
          <p:nvPr/>
        </p:nvSpPr>
        <p:spPr>
          <a:xfrm>
            <a:off x="9751624" y="5786352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1.47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10666024" y="5786352"/>
            <a:ext cx="98298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TextBox 324"/>
          <p:cNvSpPr txBox="1"/>
          <p:nvPr/>
        </p:nvSpPr>
        <p:spPr>
          <a:xfrm>
            <a:off x="10666024" y="5786352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73.3%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457248" y="6036897"/>
            <a:ext cx="1394460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TextBox 326"/>
          <p:cNvSpPr txBox="1"/>
          <p:nvPr/>
        </p:nvSpPr>
        <p:spPr>
          <a:xfrm>
            <a:off x="4457248" y="6036897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2048×2048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5874568" y="6036897"/>
            <a:ext cx="726948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TextBox 328"/>
          <p:cNvSpPr txBox="1"/>
          <p:nvPr/>
        </p:nvSpPr>
        <p:spPr>
          <a:xfrm>
            <a:off x="5874568" y="6036897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5×5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6624376" y="6036897"/>
            <a:ext cx="781812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TextBox 330"/>
          <p:cNvSpPr txBox="1"/>
          <p:nvPr/>
        </p:nvSpPr>
        <p:spPr>
          <a:xfrm>
            <a:off x="6624376" y="6036897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4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7429048" y="6036897"/>
            <a:ext cx="1092708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TextBox 332"/>
          <p:cNvSpPr txBox="1"/>
          <p:nvPr/>
        </p:nvSpPr>
        <p:spPr>
          <a:xfrm>
            <a:off x="7429048" y="6036897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8544616" y="6036897"/>
            <a:ext cx="1184148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TextBox 334"/>
          <p:cNvSpPr txBox="1"/>
          <p:nvPr/>
        </p:nvSpPr>
        <p:spPr>
          <a:xfrm>
            <a:off x="8544616" y="6036897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0.3322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9751624" y="6036897"/>
            <a:ext cx="891540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TextBox 336"/>
          <p:cNvSpPr txBox="1"/>
          <p:nvPr/>
        </p:nvSpPr>
        <p:spPr>
          <a:xfrm>
            <a:off x="9751624" y="6036897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2.26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10666024" y="6036897"/>
            <a:ext cx="982980" cy="232257"/>
          </a:xfrm>
          <a:prstGeom prst="rect">
            <a:avLst/>
          </a:prstGeom>
          <a:solidFill>
            <a:srgbClr val="F5F9FC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TextBox 338"/>
          <p:cNvSpPr txBox="1"/>
          <p:nvPr/>
        </p:nvSpPr>
        <p:spPr>
          <a:xfrm>
            <a:off x="10666024" y="6036897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56.6%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4457248" y="6287442"/>
            <a:ext cx="139446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TextBox 340"/>
          <p:cNvSpPr txBox="1"/>
          <p:nvPr/>
        </p:nvSpPr>
        <p:spPr>
          <a:xfrm>
            <a:off x="4457248" y="6287442"/>
            <a:ext cx="139446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2048×2048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5874568" y="6287442"/>
            <a:ext cx="72694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TextBox 342"/>
          <p:cNvSpPr txBox="1"/>
          <p:nvPr/>
        </p:nvSpPr>
        <p:spPr>
          <a:xfrm>
            <a:off x="5874568" y="6287442"/>
            <a:ext cx="7269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5×5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6624376" y="6287442"/>
            <a:ext cx="781812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TextBox 344"/>
          <p:cNvSpPr txBox="1"/>
          <p:nvPr/>
        </p:nvSpPr>
        <p:spPr>
          <a:xfrm>
            <a:off x="6624376" y="6287442"/>
            <a:ext cx="781812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8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7429048" y="6287442"/>
            <a:ext cx="109270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TextBox 346"/>
          <p:cNvSpPr txBox="1"/>
          <p:nvPr/>
        </p:nvSpPr>
        <p:spPr>
          <a:xfrm>
            <a:off x="7429048" y="6287442"/>
            <a:ext cx="109270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—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8544616" y="6287442"/>
            <a:ext cx="1184148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TextBox 348"/>
          <p:cNvSpPr txBox="1"/>
          <p:nvPr/>
        </p:nvSpPr>
        <p:spPr>
          <a:xfrm>
            <a:off x="8544616" y="6287442"/>
            <a:ext cx="1184148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0.3201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9751624" y="6287442"/>
            <a:ext cx="89154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TextBox 350"/>
          <p:cNvSpPr txBox="1"/>
          <p:nvPr/>
        </p:nvSpPr>
        <p:spPr>
          <a:xfrm>
            <a:off x="9751624" y="6287442"/>
            <a:ext cx="89154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2.35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10666024" y="6287442"/>
            <a:ext cx="982980" cy="232257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TextBox 352"/>
          <p:cNvSpPr txBox="1"/>
          <p:nvPr/>
        </p:nvSpPr>
        <p:spPr>
          <a:xfrm>
            <a:off x="10666024" y="6287442"/>
            <a:ext cx="982980" cy="2322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02E"/>
                </a:solidFill>
              </a:rPr>
              <a:t>29.4%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65A82"/>
                </a:solidFill>
              </a:rPr>
              <a:t>Análise de Speedup e Eficiência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748A"/>
                </a:solidFill>
              </a:rPr>
              <a:t>Como o número de threads impacta o desempenho — kernel 3×3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65A82"/>
                </a:solidFill>
              </a:rPr>
              <a:t>512×512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371600"/>
            <a:ext cx="1853619" cy="329184"/>
          </a:xfrm>
          <a:prstGeom prst="rect">
            <a:avLst/>
          </a:prstGeom>
          <a:solidFill>
            <a:srgbClr val="AD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12771" y="137160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02E"/>
                </a:solidFill>
              </a:rPr>
              <a:t>1.29×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371600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48A"/>
                </a:solidFill>
              </a:rPr>
              <a:t>64.5%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737360"/>
            <a:ext cx="3405486" cy="32918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4638" y="173736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02E"/>
                </a:solidFill>
              </a:rPr>
              <a:t>2.37×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737360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48A"/>
                </a:solidFill>
              </a:rPr>
              <a:t>59.2%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103120"/>
            <a:ext cx="2888197" cy="32918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47349" y="210312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02E"/>
                </a:solidFill>
              </a:rPr>
              <a:t>2.01×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103120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48A"/>
                </a:solidFill>
              </a:rPr>
              <a:t>25.1%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6382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65A82"/>
                </a:solidFill>
              </a:rPr>
              <a:t>1024×1024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889504"/>
            <a:ext cx="2270324" cy="329184"/>
          </a:xfrm>
          <a:prstGeom prst="rect">
            <a:avLst/>
          </a:prstGeom>
          <a:solidFill>
            <a:srgbClr val="AD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29476" y="288950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02E"/>
                </a:solidFill>
              </a:rPr>
              <a:t>1.58×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88950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48A"/>
                </a:solidFill>
              </a:rPr>
              <a:t>79.2%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255264"/>
            <a:ext cx="3965883" cy="32918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5035" y="325526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02E"/>
                </a:solidFill>
              </a:rPr>
              <a:t>2.76×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2552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48A"/>
                </a:solidFill>
              </a:rPr>
              <a:t>69.0%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3621024"/>
            <a:ext cx="3074996" cy="32918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34148" y="362102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02E"/>
                </a:solidFill>
              </a:rPr>
              <a:t>2.14×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62102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48A"/>
                </a:solidFill>
              </a:rPr>
              <a:t>26.7%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817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65A82"/>
                </a:solidFill>
              </a:rPr>
              <a:t>2048×2048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4407408"/>
            <a:ext cx="2385277" cy="329184"/>
          </a:xfrm>
          <a:prstGeom prst="rect">
            <a:avLst/>
          </a:prstGeom>
          <a:solidFill>
            <a:srgbClr val="AD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44429" y="440740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02E"/>
                </a:solidFill>
              </a:rPr>
              <a:t>1.66×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40740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48A"/>
                </a:solidFill>
              </a:rPr>
              <a:t>83.1%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4773168"/>
            <a:ext cx="3678500" cy="32918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37652" y="477316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02E"/>
                </a:solidFill>
              </a:rPr>
              <a:t>2.56×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77316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48A"/>
                </a:solidFill>
              </a:rPr>
              <a:t>64.0%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5138928"/>
            <a:ext cx="4497541" cy="32918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6693" y="513892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02E"/>
                </a:solidFill>
              </a:rPr>
              <a:t>3.13×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513892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748A"/>
                </a:solidFill>
              </a:rPr>
              <a:t>39.1%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Legenda</a:t>
            </a:r>
          </a:p>
        </p:txBody>
      </p:sp>
      <p:sp>
        <p:nvSpPr>
          <p:cNvPr id="35" name="Oval 34"/>
          <p:cNvSpPr/>
          <p:nvPr/>
        </p:nvSpPr>
        <p:spPr>
          <a:xfrm>
            <a:off x="8961120" y="1810512"/>
            <a:ext cx="256032" cy="256032"/>
          </a:xfrm>
          <a:prstGeom prst="ellipse">
            <a:avLst/>
          </a:prstGeom>
          <a:solidFill>
            <a:srgbClr val="AD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90304" y="17830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2E"/>
                </a:solidFill>
              </a:rPr>
              <a:t>2 threads</a:t>
            </a:r>
          </a:p>
        </p:txBody>
      </p:sp>
      <p:sp>
        <p:nvSpPr>
          <p:cNvPr id="37" name="Oval 36"/>
          <p:cNvSpPr/>
          <p:nvPr/>
        </p:nvSpPr>
        <p:spPr>
          <a:xfrm>
            <a:off x="8961120" y="235915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90304" y="23317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2E"/>
                </a:solidFill>
              </a:rPr>
              <a:t>4 threads</a:t>
            </a:r>
          </a:p>
        </p:txBody>
      </p:sp>
      <p:sp>
        <p:nvSpPr>
          <p:cNvPr id="39" name="Oval 38"/>
          <p:cNvSpPr/>
          <p:nvPr/>
        </p:nvSpPr>
        <p:spPr>
          <a:xfrm>
            <a:off x="8961120" y="2907792"/>
            <a:ext cx="256032" cy="25603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90304" y="28803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2E"/>
                </a:solidFill>
              </a:rPr>
              <a:t>8 threads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10515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748A"/>
                </a:solidFill>
              </a:rPr>
              <a:t>Speedup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10515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748A"/>
                </a:solidFill>
              </a:rPr>
              <a:t>Eficiência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19963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748A"/>
                </a:solidFill>
              </a:rPr>
              <a:t>Nota: eficiência cai com mais threads pois os 8 threads lógicos do Ryzen 7 3700U
compartilham 4 núcleos físicos — mais threads não significa mais núcleos.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65A82"/>
                </a:solidFill>
              </a:rPr>
              <a:t>Corretude e Imagem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748A"/>
                </a:solidFill>
              </a:rPr>
              <a:t>Validação do algoritmo e processamento de arquivo real no formato PGM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53312"/>
            <a:ext cx="539496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</a:rPr>
              <a:t>Teste de Corretude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748A"/>
                </a:solidFill>
              </a:rPr>
              <a:t>Serial vs Paralelo — mesma semente aleatória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04288"/>
            <a:ext cx="1623060" cy="329184"/>
          </a:xfrm>
          <a:prstGeom prst="rect">
            <a:avLst/>
          </a:prstGeom>
          <a:solidFill>
            <a:srgbClr val="065A82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304288"/>
            <a:ext cx="16230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Tamanho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2304288"/>
            <a:ext cx="1988820" cy="329184"/>
          </a:xfrm>
          <a:prstGeom prst="rect">
            <a:avLst/>
          </a:prstGeom>
          <a:solidFill>
            <a:srgbClr val="065A82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48840" y="2304288"/>
            <a:ext cx="19888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Resultado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304288"/>
            <a:ext cx="1531620" cy="329184"/>
          </a:xfrm>
          <a:prstGeom prst="rect">
            <a:avLst/>
          </a:prstGeom>
          <a:solidFill>
            <a:srgbClr val="065A82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60520" y="2304288"/>
            <a:ext cx="15316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Dif. Máxima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51760"/>
            <a:ext cx="1623060" cy="329184"/>
          </a:xfrm>
          <a:prstGeom prst="rect">
            <a:avLst/>
          </a:prstGeom>
          <a:solidFill>
            <a:srgbClr val="F0F7FB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651760"/>
            <a:ext cx="16230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F202E"/>
                </a:solidFill>
              </a:rPr>
              <a:t>512×512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48840" y="2651760"/>
            <a:ext cx="1988820" cy="329184"/>
          </a:xfrm>
          <a:prstGeom prst="rect">
            <a:avLst/>
          </a:prstGeom>
          <a:solidFill>
            <a:srgbClr val="F0F7FB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48840" y="2651760"/>
            <a:ext cx="19888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A6A40"/>
                </a:solidFill>
              </a:rPr>
              <a:t>✔ APROVADO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651760"/>
            <a:ext cx="1531620" cy="329184"/>
          </a:xfrm>
          <a:prstGeom prst="rect">
            <a:avLst/>
          </a:prstGeom>
          <a:solidFill>
            <a:srgbClr val="F0F7FB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2651760"/>
            <a:ext cx="15316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F202E"/>
                </a:solidFill>
              </a:rPr>
              <a:t>&lt; 0.0001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999232"/>
            <a:ext cx="162306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2999232"/>
            <a:ext cx="16230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F202E"/>
                </a:solidFill>
              </a:rPr>
              <a:t>1024×1024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2999232"/>
            <a:ext cx="198882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48840" y="2999232"/>
            <a:ext cx="19888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A6A40"/>
                </a:solidFill>
              </a:rPr>
              <a:t>✔ APROVADO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2999232"/>
            <a:ext cx="153162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2999232"/>
            <a:ext cx="15316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F202E"/>
                </a:solidFill>
              </a:rPr>
              <a:t>&lt; 0.0001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46704"/>
            <a:ext cx="1623060" cy="329184"/>
          </a:xfrm>
          <a:prstGeom prst="rect">
            <a:avLst/>
          </a:prstGeom>
          <a:solidFill>
            <a:srgbClr val="F0F7FB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3346704"/>
            <a:ext cx="16230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F202E"/>
                </a:solidFill>
              </a:rPr>
              <a:t>2048×2048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48840" y="3346704"/>
            <a:ext cx="1988820" cy="329184"/>
          </a:xfrm>
          <a:prstGeom prst="rect">
            <a:avLst/>
          </a:prstGeom>
          <a:solidFill>
            <a:srgbClr val="F0F7FB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48840" y="3346704"/>
            <a:ext cx="19888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A6A40"/>
                </a:solidFill>
              </a:rPr>
              <a:t>✔ APROVADO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3346704"/>
            <a:ext cx="1531620" cy="329184"/>
          </a:xfrm>
          <a:prstGeom prst="rect">
            <a:avLst/>
          </a:prstGeom>
          <a:solidFill>
            <a:srgbClr val="F0F7FB"/>
          </a:solidFill>
          <a:ln w="5080">
            <a:solidFill>
              <a:srgbClr val="BB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60520" y="3346704"/>
            <a:ext cx="15316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F202E"/>
                </a:solidFill>
              </a:rPr>
              <a:t>&lt; 0.0001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26280"/>
            <a:ext cx="53949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526280"/>
            <a:ext cx="5394960" cy="91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46817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</a:rPr>
              <a:t>Imagem Real Processada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202E"/>
                </a:solidFill>
              </a:rPr>
              <a:t>Uma foto de 3840×2160 pixels foi convertida para PGM e processada pelo filtro.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577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</a:rPr>
              <a:t>Tempo de execução: 0.2954 s  ·  Filtro 3×3  ·  10 iterações  ·  4 threads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989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A748A"/>
                </a:solidFill>
              </a:rPr>
              <a:t>convert foto.jpg foto.pgm  →  ./etapa1 foto.pgm saida.pgm  →  convert saida.pgm saida.jpg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1353312"/>
            <a:ext cx="5303520" cy="5184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14630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</a:rPr>
              <a:t>O que esses resultados provam?</a:t>
            </a:r>
          </a:p>
        </p:txBody>
      </p:sp>
      <p:sp>
        <p:nvSpPr>
          <p:cNvPr id="39" name="Oval 38"/>
          <p:cNvSpPr/>
          <p:nvPr/>
        </p:nvSpPr>
        <p:spPr>
          <a:xfrm>
            <a:off x="6583680" y="2057400"/>
            <a:ext cx="320040" cy="3200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3680" y="204825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20116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02E"/>
                </a:solidFill>
              </a:rPr>
              <a:t>Não há condição de corrida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23774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48A"/>
                </a:solidFill>
              </a:rPr>
              <a:t>Cada thread escreve em pixels diferentes — a paralelização é matematicamente segura.</a:t>
            </a:r>
          </a:p>
        </p:txBody>
      </p:sp>
      <p:sp>
        <p:nvSpPr>
          <p:cNvPr id="43" name="Oval 42"/>
          <p:cNvSpPr/>
          <p:nvPr/>
        </p:nvSpPr>
        <p:spPr>
          <a:xfrm>
            <a:off x="6583680" y="3108960"/>
            <a:ext cx="320040" cy="3200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80" y="309981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06324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02E"/>
                </a:solidFill>
              </a:rPr>
              <a:t>Resultados equivalentes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34290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48A"/>
                </a:solidFill>
              </a:rPr>
              <a:t>Diferenças &lt; 0,0001 são normais: decorrem da ordem de somas de ponto flutuante entre threads.</a:t>
            </a:r>
          </a:p>
        </p:txBody>
      </p:sp>
      <p:sp>
        <p:nvSpPr>
          <p:cNvPr id="47" name="Oval 46"/>
          <p:cNvSpPr/>
          <p:nvPr/>
        </p:nvSpPr>
        <p:spPr>
          <a:xfrm>
            <a:off x="6583680" y="4160520"/>
            <a:ext cx="320040" cy="3200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83680" y="415137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5160" y="411480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02E"/>
                </a:solidFill>
              </a:rPr>
              <a:t>Funciona com imagem real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0" y="448056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48A"/>
                </a:solidFill>
              </a:rPr>
              <a:t>O filtro não apenas processa matrizes artificiais — foi validado com arquivo real 3840×2160.</a:t>
            </a:r>
          </a:p>
        </p:txBody>
      </p:sp>
      <p:sp>
        <p:nvSpPr>
          <p:cNvPr id="51" name="Oval 50"/>
          <p:cNvSpPr/>
          <p:nvPr/>
        </p:nvSpPr>
        <p:spPr>
          <a:xfrm>
            <a:off x="6583680" y="5212080"/>
            <a:ext cx="320040" cy="3200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83680" y="520293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516636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02E"/>
                </a:solidFill>
              </a:rPr>
              <a:t>PGM sem biblioteca externa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553212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48A"/>
                </a:solidFill>
              </a:rPr>
              <a:t>Leitura e escrita implementadas do zero em C puro — sem dependências externas.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09728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Conclusão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105156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298448"/>
            <a:ext cx="155448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2C39A"/>
                </a:solidFill>
              </a:rPr>
              <a:t>3.13×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33502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</a:rPr>
              <a:t>Speedup máximo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70078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0CEE0"/>
                </a:solidFill>
              </a:rPr>
              <a:t>Obtido em 2048×2048, kernel 3×3, 8 threads — imagens maiores escalam melhor.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86000"/>
            <a:ext cx="155448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2C39A"/>
                </a:solidFill>
              </a:rPr>
              <a:t>86.0%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322576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</a:rPr>
              <a:t>Melhor eficiência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688336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0CEE0"/>
                </a:solidFill>
              </a:rPr>
              <a:t>Alcançada em 1024×1024, kernel 5×5, 2 threads — uso quase ideal dos núcleos.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73552"/>
            <a:ext cx="155448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273552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2C39A"/>
                </a:solidFill>
              </a:rPr>
              <a:t>1 linha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3101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</a:rPr>
              <a:t>Paralelização simples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67588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0CEE0"/>
                </a:solidFill>
              </a:rPr>
              <a:t>#pragma omp parallel for collapse(2) — uma diretiva transforma o código serial em paralelo.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261104"/>
            <a:ext cx="155448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261104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2C39A"/>
                </a:solidFill>
              </a:rPr>
              <a:t>0.2954s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297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</a:rPr>
              <a:t>Imagem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663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0CEE0"/>
                </a:solidFill>
              </a:rPr>
              <a:t>3840×2160 pixels processados — filtro validado com arquivo PGM sem biblioteca externa.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48656"/>
            <a:ext cx="1554480" cy="822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248656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2C39A"/>
                </a:solidFill>
              </a:rPr>
              <a:t>Lei de Amdahl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2852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</a:rPr>
              <a:t>Limitação teórica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65099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B0CEE0"/>
                </a:solidFill>
              </a:rPr>
              <a:t>Eficiência cai com mais threads: 4 núcleos físicos no Ryzen 7 3700U limitam o ganho real.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327648"/>
            <a:ext cx="1051560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A7A9A"/>
                </a:solidFill>
              </a:rPr>
              <a:t>Gilbert Carmo  &amp;  Henio Pedro  ·  DEC107 — Processamento Paralelo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1173</Words>
  <Application>Microsoft Office PowerPoint</Application>
  <PresentationFormat>Personalizar</PresentationFormat>
  <Paragraphs>350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Gilbert C. Macêdo</cp:lastModifiedBy>
  <cp:revision>2</cp:revision>
  <dcterms:created xsi:type="dcterms:W3CDTF">2013-01-27T09:14:16Z</dcterms:created>
  <dcterms:modified xsi:type="dcterms:W3CDTF">2026-05-03T13:47:04Z</dcterms:modified>
  <cp:category/>
</cp:coreProperties>
</file>